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media/image20.png" ContentType="image/png"/>
  <Override PartName="/ppt/media/image13.png" ContentType="image/png"/>
  <Override PartName="/ppt/media/image14.svg" ContentType="image/svg"/>
  <Override PartName="/ppt/media/image15.png" ContentType="image/png"/>
  <Override PartName="/ppt/media/image16.svg" ContentType="image/svg"/>
  <Override PartName="/ppt/media/image17.png" ContentType="image/png"/>
  <Override PartName="/ppt/media/image18.png" ContentType="image/png"/>
  <Override PartName="/ppt/media/image1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331DBE-D66B-4A9E-A146-5FC01CBA99A0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B7C990-97A0-48A1-A091-5A0E1C10DB0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1275BA-FFE0-4EE8-B628-0DA559674D5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5B7E2B-F636-49BC-8EC5-389B509BD99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94CE61-4500-446D-91D5-88D3E13532F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F5BFCB-19A9-46FB-AD90-9C63092AF6B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3F61CD-C6F0-4D7A-9148-BD4BDBF4A6A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5486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119520" y="616680"/>
            <a:ext cx="5246640" cy="699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"/>
          <p:cNvSpPr/>
          <p:nvPr/>
        </p:nvSpPr>
        <p:spPr>
          <a:xfrm>
            <a:off x="6324120" y="2848320"/>
            <a:ext cx="7468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Система школьного питания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6324120" y="4615200"/>
            <a:ext cx="74682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Веб-приложение для автоматизации школьной столовой - быстро, удобно и безопасно для каждого ученика.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9144000" y="0"/>
            <a:ext cx="5486040" cy="8229240"/>
          </a:xfrm>
          <a:prstGeom prst="rect">
            <a:avLst/>
          </a:prstGeom>
          <a:solidFill>
            <a:srgbClr val="faf5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9252360" y="601920"/>
            <a:ext cx="5268960" cy="70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"/>
          <p:cNvSpPr/>
          <p:nvPr/>
        </p:nvSpPr>
        <p:spPr>
          <a:xfrm>
            <a:off x="759240" y="620640"/>
            <a:ext cx="51040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Зачем это нужно?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759240" y="1553400"/>
            <a:ext cx="7625160" cy="1593000"/>
          </a:xfrm>
          <a:prstGeom prst="roundRect">
            <a:avLst>
              <a:gd name="adj" fmla="val 9182"/>
            </a:avLst>
          </a:prstGeom>
          <a:solidFill>
            <a:srgbClr val="faf5eb"/>
          </a:solidFill>
          <a:ln w="30480">
            <a:solidFill>
              <a:srgbClr val="d5c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728640" y="1553400"/>
            <a:ext cx="121680" cy="1593000"/>
          </a:xfrm>
          <a:prstGeom prst="roundRect">
            <a:avLst>
              <a:gd name="adj" fmla="val 74733"/>
            </a:avLst>
          </a:prstGeom>
          <a:solidFill>
            <a:srgbClr val="3371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098000" y="1800720"/>
            <a:ext cx="3247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Бумажные списки заказов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098000" y="2237760"/>
            <a:ext cx="703872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Ежедневная ручная работа с листами заказов - медленно, нечитаемо и ненадёжно.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759240" y="3343320"/>
            <a:ext cx="7625160" cy="1593000"/>
          </a:xfrm>
          <a:prstGeom prst="roundRect">
            <a:avLst>
              <a:gd name="adj" fmla="val 9182"/>
            </a:avLst>
          </a:prstGeom>
          <a:solidFill>
            <a:srgbClr val="faf5eb"/>
          </a:solidFill>
          <a:ln w="30480">
            <a:solidFill>
              <a:srgbClr val="d5c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728640" y="3343320"/>
            <a:ext cx="121680" cy="1593000"/>
          </a:xfrm>
          <a:prstGeom prst="roundRect">
            <a:avLst>
              <a:gd name="adj" fmla="val 74733"/>
            </a:avLst>
          </a:prstGeom>
          <a:solidFill>
            <a:srgbClr val="3371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1098000" y="3590640"/>
            <a:ext cx="2879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Ручной учёт продуктов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1098000" y="4027680"/>
            <a:ext cx="703872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Никакого контроля остатков на складе - дефицит обнаруживается в последний момент.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759240" y="5132880"/>
            <a:ext cx="7625160" cy="1593000"/>
          </a:xfrm>
          <a:prstGeom prst="roundRect">
            <a:avLst>
              <a:gd name="adj" fmla="val 9182"/>
            </a:avLst>
          </a:prstGeom>
          <a:solidFill>
            <a:srgbClr val="faf5eb"/>
          </a:solidFill>
          <a:ln w="30480">
            <a:solidFill>
              <a:srgbClr val="d5c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728640" y="5132880"/>
            <a:ext cx="121680" cy="1593000"/>
          </a:xfrm>
          <a:prstGeom prst="roundRect">
            <a:avLst>
              <a:gd name="adj" fmla="val 74733"/>
            </a:avLst>
          </a:prstGeom>
          <a:solidFill>
            <a:srgbClr val="3371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1098000" y="5380560"/>
            <a:ext cx="275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Аллергии под угрозой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1098000" y="5817240"/>
            <a:ext cx="703872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Отсутствие цифрового учёта аллергий создаёт реальные риски для здоровья детей.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759240" y="6947280"/>
            <a:ext cx="762516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Наша система переводит всё это в цифровой формат — безопасно и прозрачно.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837720" y="1171080"/>
            <a:ext cx="77626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Три роли — три интерфейса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837720" y="2353680"/>
            <a:ext cx="1811880" cy="181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"/>
          <p:cNvSpPr/>
          <p:nvPr/>
        </p:nvSpPr>
        <p:spPr>
          <a:xfrm>
            <a:off x="837720" y="4465080"/>
            <a:ext cx="2815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Funnel Display"/>
                <a:ea typeface="Funnel Display"/>
              </a:rPr>
              <a:t>🎓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Funnel Display"/>
                <a:ea typeface="Funnel Display"/>
              </a:rPr>
              <a:t> 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Ученик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37720" y="4975920"/>
            <a:ext cx="4118400" cy="16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Заказывает еду онлайн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Пополняет баланс и покупает абонемент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Указывает аллергии в профиле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5255640" y="2353680"/>
            <a:ext cx="1811880" cy="181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3"/>
          <p:cNvSpPr/>
          <p:nvPr/>
        </p:nvSpPr>
        <p:spPr>
          <a:xfrm>
            <a:off x="5255640" y="4465080"/>
            <a:ext cx="2815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Funnel Display"/>
                <a:ea typeface="Funnel Display"/>
              </a:rPr>
              <a:t>👨‍🍳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Funnel Display"/>
                <a:ea typeface="Funnel Display"/>
              </a:rPr>
              <a:t> 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Повар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255640" y="4975920"/>
            <a:ext cx="4118400" cy="16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Регистрирует приготовленные</a:t>
            </a: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</a:t>
            </a: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блюда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Выдаёт заказы по списку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Следит за остатками склада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2" descr="preencoded.png"/>
          <p:cNvPicPr/>
          <p:nvPr/>
        </p:nvPicPr>
        <p:blipFill>
          <a:blip r:embed="rId3"/>
          <a:stretch/>
        </p:blipFill>
        <p:spPr>
          <a:xfrm>
            <a:off x="9673920" y="2353680"/>
            <a:ext cx="1811880" cy="181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5"/>
          <p:cNvSpPr/>
          <p:nvPr/>
        </p:nvSpPr>
        <p:spPr>
          <a:xfrm>
            <a:off x="9673920" y="4465080"/>
            <a:ext cx="2815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Funnel Display"/>
                <a:ea typeface="Funnel Display"/>
              </a:rPr>
              <a:t>🛠️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Funnel Display"/>
                <a:ea typeface="Funnel Display"/>
              </a:rPr>
              <a:t> </a:t>
            </a: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Администратор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9673920" y="4975920"/>
            <a:ext cx="4118400" cy="20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Управляет меню и пользователями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Просматривает аналитику в реальном времени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999"/>
              </a:lnSpc>
              <a:buClr>
                <a:srgbClr val="2b3541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Одобряет заявки на закупку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837720" y="700560"/>
            <a:ext cx="56322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Как работает заказ?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2278080" y="1883160"/>
            <a:ext cx="10073880" cy="461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569240" y="3034440"/>
            <a:ext cx="647280" cy="6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"/>
          <p:cNvSpPr/>
          <p:nvPr/>
        </p:nvSpPr>
        <p:spPr>
          <a:xfrm>
            <a:off x="9992160" y="5238360"/>
            <a:ext cx="1891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Выдача и отметка</a:t>
            </a:r>
            <a:endParaRPr b="0" lang="ru-RU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7920" y="3035520"/>
            <a:ext cx="647280" cy="6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7608240" y="5238360"/>
            <a:ext cx="1891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Оформление заказа</a:t>
            </a:r>
            <a:endParaRPr b="0" lang="ru-RU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826960" y="3035520"/>
            <a:ext cx="647280" cy="6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3"/>
          <p:cNvSpPr/>
          <p:nvPr/>
        </p:nvSpPr>
        <p:spPr>
          <a:xfrm>
            <a:off x="5237640" y="5238360"/>
            <a:ext cx="1891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Актуальное меню</a:t>
            </a:r>
            <a:endParaRPr b="0" lang="ru-RU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3443400" y="3035520"/>
            <a:ext cx="647280" cy="6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4"/>
          <p:cNvSpPr/>
          <p:nvPr/>
        </p:nvSpPr>
        <p:spPr>
          <a:xfrm>
            <a:off x="2815200" y="5409720"/>
            <a:ext cx="1891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Ввод блюд</a:t>
            </a:r>
            <a:endParaRPr b="0" lang="ru-RU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837720" y="6762960"/>
            <a:ext cx="129546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Весь цикл — от приготовления до выдачи — отслеживается в одной системе. Никаких бумажных списков, никаких потерянных заказов.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837720" y="2037240"/>
            <a:ext cx="4154400" cy="41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0"/>
          <p:cNvSpPr/>
          <p:nvPr/>
        </p:nvSpPr>
        <p:spPr>
          <a:xfrm>
            <a:off x="5583960" y="1625760"/>
            <a:ext cx="57571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Управление складом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583960" y="2569320"/>
            <a:ext cx="821592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Система в реальном времени отслеживает остатки каждого ингредиента.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5583960" y="3604320"/>
            <a:ext cx="3988080" cy="2968920"/>
          </a:xfrm>
          <a:prstGeom prst="roundRect">
            <a:avLst>
              <a:gd name="adj" fmla="val 3386"/>
            </a:avLst>
          </a:prstGeom>
          <a:solidFill>
            <a:srgbClr val="faf5eb"/>
          </a:solidFill>
          <a:ln w="7620">
            <a:solidFill>
              <a:srgbClr val="d5c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830920" y="3851280"/>
            <a:ext cx="34941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Автоматический контроль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830920" y="4794480"/>
            <a:ext cx="349416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При падении запаса ниже минимума повар создаёт заявку на закупку.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9811800" y="3604320"/>
            <a:ext cx="3988080" cy="2968920"/>
          </a:xfrm>
          <a:prstGeom prst="roundRect">
            <a:avLst>
              <a:gd name="adj" fmla="val 3386"/>
            </a:avLst>
          </a:prstGeom>
          <a:solidFill>
            <a:srgbClr val="faf5eb"/>
          </a:solidFill>
          <a:ln w="7620">
            <a:solidFill>
              <a:srgbClr val="d5cd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0058760" y="3851280"/>
            <a:ext cx="34941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Display"/>
              </a:rPr>
              <a:t>Одобрение администратором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0058760" y="4794480"/>
            <a:ext cx="3494160" cy="15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Администратор подтверждает заявку — продукты автоматически зачисляются на склад.</a:t>
            </a:r>
            <a:endParaRPr b="0" lang="ru-RU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1121040" y="568800"/>
            <a:ext cx="448776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Технологии</a:t>
            </a:r>
            <a:endParaRPr b="0" lang="ru-RU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1121040" y="1528560"/>
            <a:ext cx="5960880" cy="596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Image 1" descr="preencoded.png"/>
          <p:cNvPicPr/>
          <p:nvPr/>
        </p:nvPicPr>
        <p:blipFill>
          <a:blip r:embed="rId2"/>
          <a:stretch/>
        </p:blipFill>
        <p:spPr>
          <a:xfrm>
            <a:off x="1121040" y="1528560"/>
            <a:ext cx="5960880" cy="596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"/>
          <p:cNvSpPr/>
          <p:nvPr/>
        </p:nvSpPr>
        <p:spPr>
          <a:xfrm>
            <a:off x="7740000" y="1879920"/>
            <a:ext cx="22438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51d3a"/>
                </a:solidFill>
                <a:effectLst/>
                <a:uFillTx/>
                <a:latin typeface="Arial"/>
                <a:ea typeface="Funnel Display"/>
              </a:rPr>
              <a:t>Надёжная основа</a:t>
            </a:r>
            <a:endParaRPr b="1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7803000" y="2520000"/>
            <a:ext cx="59608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b3541"/>
                </a:solidFill>
                <a:effectLst/>
                <a:uFillTx/>
                <a:latin typeface="Arial"/>
                <a:ea typeface="Funnel Sans"/>
              </a:rPr>
              <a:t>Стек выбран специально для образовательных учреждений: простое развёртывание на школьном сервере, минимальные системные требования и встроенная безопасность.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7560000" y="4600440"/>
            <a:ext cx="5960880" cy="979560"/>
          </a:xfrm>
          <a:prstGeom prst="roundRect">
            <a:avLst>
              <a:gd name="adj" fmla="val 8176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3"/>
          <a:stretch/>
        </p:blipFill>
        <p:spPr>
          <a:xfrm>
            <a:off x="7746120" y="4999680"/>
            <a:ext cx="23796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4"/>
          <p:cNvSpPr/>
          <p:nvPr/>
        </p:nvSpPr>
        <p:spPr>
          <a:xfrm>
            <a:off x="8100000" y="4672080"/>
            <a:ext cx="5150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Funnel Sans"/>
              </a:rPr>
              <a:t>Запуск одной командой — база данных создаётся автоматически, без ручной настройки.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560000" y="1620000"/>
            <a:ext cx="6203880" cy="2520000"/>
          </a:xfrm>
          <a:prstGeom prst="roundRect">
            <a:avLst>
              <a:gd name="adj" fmla="val 16667"/>
            </a:avLst>
          </a:prstGeom>
          <a:solidFill>
            <a:srgbClr val="fff5ce">
              <a:alpha val="3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2026-04-30T11:00:02Z</dcterms:created>
  <dc:creator/>
  <dc:description/>
  <dc:language>ru-RU</dc:language>
  <cp:lastModifiedBy/>
  <dcterms:modified xsi:type="dcterms:W3CDTF">2026-04-30T14:18:17Z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